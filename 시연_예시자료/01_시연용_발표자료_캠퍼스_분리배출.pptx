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1987a07ead412f" /><Relationship Type="http://schemas.openxmlformats.org/officeDocument/2006/relationships/extended-properties" Target="/docProps/app.xml" Id="Rd1e0b287deba438c" /><Relationship Type="http://schemas.openxmlformats.org/officeDocument/2006/relationships/officeDocument" Target="/ppt/presentation.xml" Id="Rea0338b793454f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01fb896b544acd"/>
  </p:sldMasterIdLst>
  <p:notesMasterIdLst>
    <p:notesMasterId xmlns:r="http://schemas.openxmlformats.org/officeDocument/2006/relationships" r:id="R2299bcf210734ff8"/>
  </p:notesMasterIdLst>
  <p:sldIdLst>
    <p:sldId xmlns:r="http://schemas.openxmlformats.org/officeDocument/2006/relationships" id="256" r:id="Ra5d4b3172731429c"/>
    <p:sldId xmlns:r="http://schemas.openxmlformats.org/officeDocument/2006/relationships" id="257" r:id="R0e2e6627a9584226"/>
    <p:sldId xmlns:r="http://schemas.openxmlformats.org/officeDocument/2006/relationships" id="258" r:id="Ra330ec43d4634af8"/>
    <p:sldId xmlns:r="http://schemas.openxmlformats.org/officeDocument/2006/relationships" id="259" r:id="R3b9295c162cd4046"/>
    <p:sldId xmlns:r="http://schemas.openxmlformats.org/officeDocument/2006/relationships" id="260" r:id="R916d2c5995d54dbb"/>
    <p:sldId xmlns:r="http://schemas.openxmlformats.org/officeDocument/2006/relationships" id="261" r:id="Rd3cf7bce1f3a4795"/>
    <p:sldId xmlns:r="http://schemas.openxmlformats.org/officeDocument/2006/relationships" id="262" r:id="R4ecf330f62aa462f"/>
    <p:sldId xmlns:r="http://schemas.openxmlformats.org/officeDocument/2006/relationships" id="263" r:id="R28b7901016c041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9327c1a6b84915" /><Relationship Type="http://schemas.openxmlformats.org/officeDocument/2006/relationships/slideMaster" Target="/ppt/slideMasters/slideMaster1.xml" Id="Rc701fb896b544acd" /><Relationship Type="http://schemas.openxmlformats.org/officeDocument/2006/relationships/notesMaster" Target="/ppt/notesMasters/notesMaster1.xml" Id="R2299bcf210734ff8" /><Relationship Type="http://schemas.openxmlformats.org/officeDocument/2006/relationships/presProps" Target="/ppt/presProps.xml" Id="R518f3788ca1a45e7" /><Relationship Type="http://schemas.openxmlformats.org/officeDocument/2006/relationships/tableStyles" Target="/ppt/tableStyles.xml" Id="R33e821cffbb54726" /><Relationship Type="http://schemas.openxmlformats.org/officeDocument/2006/relationships/slide" Target="/ppt/slides/slide1.xml" Id="Ra5d4b3172731429c" /><Relationship Type="http://schemas.openxmlformats.org/officeDocument/2006/relationships/slide" Target="/ppt/slides/slide2.xml" Id="R0e2e6627a9584226" /><Relationship Type="http://schemas.openxmlformats.org/officeDocument/2006/relationships/slide" Target="/ppt/slides/slide3.xml" Id="Ra330ec43d4634af8" /><Relationship Type="http://schemas.openxmlformats.org/officeDocument/2006/relationships/slide" Target="/ppt/slides/slide4.xml" Id="R3b9295c162cd4046" /><Relationship Type="http://schemas.openxmlformats.org/officeDocument/2006/relationships/slide" Target="/ppt/slides/slide5.xml" Id="R916d2c5995d54dbb" /><Relationship Type="http://schemas.openxmlformats.org/officeDocument/2006/relationships/slide" Target="/ppt/slides/slide6.xml" Id="Rd3cf7bce1f3a4795" /><Relationship Type="http://schemas.openxmlformats.org/officeDocument/2006/relationships/slide" Target="/ppt/slides/slide7.xml" Id="R4ecf330f62aa462f" /><Relationship Type="http://schemas.openxmlformats.org/officeDocument/2006/relationships/slide" Target="/ppt/slides/slide8.xml" Id="R28b7901016c041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714aceee247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a217398acd46f2" /><Relationship Type="http://schemas.openxmlformats.org/officeDocument/2006/relationships/notesMaster" Target="/ppt/notesMasters/notesMaster1.xml" Id="R01209030420144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8a28fa694c4f23" /><Relationship Type="http://schemas.openxmlformats.org/officeDocument/2006/relationships/notesMaster" Target="/ppt/notesMasters/notesMaster1.xml" Id="R1ffb0a8e037b40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c27388fa5b4219" /><Relationship Type="http://schemas.openxmlformats.org/officeDocument/2006/relationships/notesMaster" Target="/ppt/notesMasters/notesMaster1.xml" Id="R497338ce9fa540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c53e9d564f49fe" /><Relationship Type="http://schemas.openxmlformats.org/officeDocument/2006/relationships/notesMaster" Target="/ppt/notesMasters/notesMaster1.xml" Id="R913246581fba4e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b2b5dee98d4d61" /><Relationship Type="http://schemas.openxmlformats.org/officeDocument/2006/relationships/notesMaster" Target="/ppt/notesMasters/notesMaster1.xml" Id="R4f519180ca5b42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344803d99458a" /><Relationship Type="http://schemas.openxmlformats.org/officeDocument/2006/relationships/notesMaster" Target="/ppt/notesMasters/notesMaster1.xml" Id="Reccb4f59b1c649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5d8a22ebf24b50" /><Relationship Type="http://schemas.openxmlformats.org/officeDocument/2006/relationships/notesMaster" Target="/ppt/notesMasters/notesMaster1.xml" Id="R4a57b52762fc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c210266814b52" /><Relationship Type="http://schemas.openxmlformats.org/officeDocument/2006/relationships/notesMaster" Target="/ppt/notesMasters/notesMaster1.xml" Id="Rb7820e076e9347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오늘은 캠퍼스 분리배출 문제를 8주 시범사업으로 검증하는 제안을 설명하겠습니다. 핵심은 학생 행동과 시설 운영을 동시에 바꾸되 개인정보를 수집하지 않는 것입니다.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세 지점의 평균 혼합배출률을 32%로 두었습니다. 가장 큰 문제는 사용자 안내가 제각각이고, 수거 시점을 현장 경험에 의존한다는 점입니다.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해결 방식은 네 단계입니다. 안내를 통일하고 필요한 이벤트만 기록합니다. 사용자는 즉시 피드백을 받고, 운영팀은 적재율을 기준으로 수거 순서를 조정합니다.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학생은 10초 안에 품목을 확인하고 투입을 끝냅니다. 운영자는 하루 5분 정도 대시보드를 확인해 수거 우선순위만 정합니다. 별도 앱이나 학생 계정은 요구하지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기술 구조는 단순합니다. 분리배출함 이벤트가 현장 게이트웨이를 거쳐 교내 서버와 운영 화면으로 전달됩니다. 영상이나 개인 식별자는 전혀 저장하지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1~2주차에는 현재 상태를 측정합니다. 3주차에 설치와 교육을 끝내고 4~7주차에 운영합니다. 8주차에는 사전에 정한 기준으로 확대, 수정, 중단을 결정합니다.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시범사업 총예산은 1,800만원입니다. 확대 여부는 효과뿐 아니라 데이터 수집 안정성과 주간 운영 부담까지 네 가지 기준으로 판단합니다.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시연용 가상 사례. 외부 사실 인용 없음.</a:t>
            </a:r>
          </a:p>
          <a:p xmlns:a="http://schemas.openxmlformats.org/drawingml/2006/main">
            <a:r>
              <a:t>요청드리는 것은 3개 지점, 8주, 1,800만원 규모의 시범사업 승인입니다. 8주 뒤에는 사전에 합의한 네 가지 기준으로 다음 단계를 결정하겠습니다.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5b7100e844f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b705c388d14b73" /><Relationship Type="http://schemas.openxmlformats.org/officeDocument/2006/relationships/slideLayout" Target="/ppt/slideLayouts/slideLayout1.xml" Id="R442608617a1841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2608617a1841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9ff58292c432f" /><Relationship Type="http://schemas.openxmlformats.org/officeDocument/2006/relationships/image" Target="/ppt/media/image.png" Id="Ree7cfedd23e2477b" /><Relationship Type="http://schemas.openxmlformats.org/officeDocument/2006/relationships/notesSlide" Target="/ppt/notesSlides/notesSlide1.xml" Id="R943c56e4f33b41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091c6cec424a89" /><Relationship Type="http://schemas.openxmlformats.org/officeDocument/2006/relationships/chart" Target="/ppt/slides/charts/chart1.xml" Id="R9acff7a0bd544715" /><Relationship Type="http://schemas.openxmlformats.org/officeDocument/2006/relationships/notesSlide" Target="/ppt/notesSlides/notesSlide2.xml" Id="R1181f8586f9641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1f59d454a4f09" /><Relationship Type="http://schemas.openxmlformats.org/officeDocument/2006/relationships/notesSlide" Target="/ppt/notesSlides/notesSlide3.xml" Id="R7a7d06ac843f45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a1234e6724ec1" /><Relationship Type="http://schemas.openxmlformats.org/officeDocument/2006/relationships/notesSlide" Target="/ppt/notesSlides/notesSlide4.xml" Id="R0a10c76afee34a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8412dbe3d4e6f" /><Relationship Type="http://schemas.openxmlformats.org/officeDocument/2006/relationships/notesSlide" Target="/ppt/notesSlides/notesSlide5.xml" Id="R874812a3cbbe42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db83cde9489f" /><Relationship Type="http://schemas.openxmlformats.org/officeDocument/2006/relationships/notesSlide" Target="/ppt/notesSlides/notesSlide6.xml" Id="R6f22976b04ec49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f43aa4ec514e43" /><Relationship Type="http://schemas.openxmlformats.org/officeDocument/2006/relationships/notesSlide" Target="/ppt/notesSlides/notesSlide7.xml" Id="R155945156aa54d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701234b754221" /><Relationship Type="http://schemas.openxmlformats.org/officeDocument/2006/relationships/notesSlide" Target="/ppt/notesSlides/notesSlide8.xml" Id="Rc1109108ce4046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혼합배출률</c:v>
          </c:tx>
          <c:spPr>
            <a:solidFill xmlns:a="http://schemas.openxmlformats.org/drawingml/2006/main">
              <a:srgbClr val="2D6FA3"/>
            </a:solidFill>
          </c:spPr>
          <c:cat>
            <c:strLit>
              <c:ptCount val="3"/>
              <c:pt idx="0">
                <c:v>도서관 1층</c:v>
              </c:pt>
              <c:pt idx="1">
                <c:v>학생식당</c:v>
              </c:pt>
              <c:pt idx="2">
                <c:v>기숙사 로비</c:v>
              </c:pt>
            </c:strLit>
          </c:cat>
          <c:val>
            <c:numLit>
              <c:formatCode>0"%"</c:formatCode>
              <c:ptCount val="3"/>
              <c:pt idx="0">
                <c:v>38</c:v>
              </c:pt>
              <c:pt idx="1">
                <c:v>34</c:v>
              </c:pt>
              <c:pt idx="2">
                <c:v>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D2742"/>
                  </a:solidFill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CF1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7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7cfedd23e2477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C294F-4ABF-4919-AAF7-411A1C43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74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8B5FA-3575-4224-886A-BFB77F66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0"/>
            <a:ext cx="66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A6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13952-6F17-4AA1-B9D1-C56C7EEC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9FE2CC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9FE2CC"/>
                </a:solidFill>
                <a:latin typeface="Malgun Gothic"/>
                <a:ea typeface="Malgun Gothic"/>
                <a:cs typeface="Malgun Gothic"/>
              </a:rPr>
              <a:t>시연용 프로젝트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86597-43F3-45F9-A7C6-A09AD41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28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캠퍼스 분리배출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개선 시범사업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1E1A2-7731-46D6-AE1A-2CF539D8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90900"/>
            <a:ext cx="4048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8주 안에 혼합배출률 32%에서 18%로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CD035-064E-44AE-9020-A293F42E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C9D7E4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C9D7E4"/>
                </a:solidFill>
                <a:latin typeface="Malgun Gothic"/>
                <a:ea typeface="Malgun Gothic"/>
                <a:cs typeface="Malgun Gothic"/>
              </a:rPr>
              <a:t>발표 질문 시뮬레이터 데모 자료</a:t>
            </a:r>
          </a:p>
        </p:txBody>
      </p:sp>
    </p:spTree>
    <p:extLst>
      <p:ext uri="{BB962C8B-B14F-4D97-AF65-F5344CB8AC3E}">
        <p14:creationId xmlns:p14="http://schemas.microsoft.com/office/powerpoint/2010/main" val="13970654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96C0D-317B-4A32-9831-5D6AD0DF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혼합배출이 집중되는 세 지점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768F9-61C2-457D-95BA-7B86BB17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기준선 조사에서 세 지점 평균 혼합배출률을 32%로 가정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" y="1638300"/>
          <a:ext xmlns:a="http://schemas.openxmlformats.org/drawingml/2006/main" cx="6858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cff7a0bd544715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1D9FA9-1A53-4157-ABB0-0E76048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71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관찰된 원인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8CFD2-59B0-4EEA-BE58-03FF982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5AE3E-92BE-425A-B614-756431E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표지 기준이 지점마다 다름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94250-EAA5-4EFE-9336-6A4BC4F0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43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컵과 캔을 어디에 넣어야 하는지 망설임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9D1A1-64F2-4869-8D37-BF6BC20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00AF5-E2BD-47A2-9D64-5004BBAE5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67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오염 상태 안내가 부족함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8D177-17CE-48AE-BCB7-9BE4330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48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내용물을 비우지 않은 용기가 함께 들어감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E7679-BDBB-4043-8DA5-A7B211C1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ED4EB-40B2-4601-9DA9-5F5EF2E7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72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수거 시점을 경험으로 판단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E4ADF8-FFA3-44D3-9702-6986B342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넘친 통이 다음 배출 오류를 유발함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54940-9FD6-4B0B-8D8A-91660933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시연용 가상 사례 · 수치는 데모용 가정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D58A2E-09C1-43FE-96BF-A167A25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75658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B2F9B-B732-48C2-96EB-5F0C749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학생 행동과 수거 운영을 함께 바꾸는 방식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216F6-A36D-4AEC-B1E0-2E2CADD8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한 번의 투입 경험과 매일의 시설 운영을 같은 데이터로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2379-40B9-4DA4-932F-F977E19E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9050">
            <a:solidFill>
              <a:srgbClr val="2D6F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57ECEB-4A4A-47DC-91F9-27A19FE5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D22A9-39D2-4D5A-90C1-1AD9AA92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안내 표준화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D6B56-7A6C-434D-8DEF-DB79DE9E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한국어·영어·그림을 같은 순서로 배치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BCA83-4139-4EBD-87C3-A927689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2381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19050">
            <a:solidFill>
              <a:srgbClr val="27A6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1C24A3-9443-4AE1-98CC-868A92D5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0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DE74E-000B-455B-8AED-DAE3225C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투입 이벤트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78D79-9B07-4F53-ABD1-68075FEF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통 ID, 종류, 시각, 무게 변화만 저장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E2C70F-49BE-480B-B693-DDF667ABC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90750"/>
            <a:ext cx="2381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AEBDD"/>
          </a:solidFill>
          <a:ln xmlns:a="http://schemas.openxmlformats.org/drawingml/2006/main" w="19050">
            <a:solidFill>
              <a:srgbClr val="E58A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8D247-2239-48A6-AFEB-DD1068A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0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8A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79E96-D8BF-4A95-9D1E-517BC535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즉시 피드백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AE816-AEF8-4EAA-B468-B1C83532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5760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잘못된 투입을 소리와 표시로 바로 안내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755EB2-DFEB-4F2C-89C0-F25C71E7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3812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9050">
            <a:solidFill>
              <a:srgbClr val="2D6F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C043F-F57B-4819-BC2A-84D7EB3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8E867A-D9D3-4488-8E4D-6E244C08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105150"/>
            <a:ext cx="1962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수거 동선 조정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77A5F-96E0-463D-8E60-F5BBA1E7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57600"/>
            <a:ext cx="1885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적재율 기준으로 우선 방문 지점을 정함</a:t>
            </a:r>
          </a:p>
        </p:txBody>
      </p:sp>
      <p:cxnSp>
        <p:nvCxnSpPr>
          <p:cNvPr id="44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05150" y="3381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1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943600" y="3381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1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82050" y="3381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CA0B1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D52F0D-C30B-430B-AE7D-12DB587B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4B6F9-2742-46A5-8FB5-3C2335254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625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혼합배출률 18% 이하 · 운영 투입 4시간 이내 / 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53698D-BDB5-4D74-9E3F-8EB526F0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시연용 가상 사례 · 수치는 데모용 가정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4D655-63B3-4D46-8045-98B43184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9595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396E9B-23C1-4C3A-B083-45CE39B4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학생 10초, 운영자는 하루 5분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62F3A-DD66-4CB7-A090-413E49F0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사용자와 운영자가 각자 필요한 정보만 보게 설계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EE402-B339-4D56-9CDC-1E3D90C0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rPr>
              <a:t>학생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8F553-C508-43C9-9FF9-D77283F0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운영자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86944-FAF9-422A-A511-EC304C91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52575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0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EE8863-1BD0-4A3B-9E49-EE56B4C9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4288">
            <a:solidFill>
              <a:srgbClr val="2D6FA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854DD6-3374-447C-BC5E-8BD67986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40DBBB-1E8A-450E-8B04-92C51125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71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품목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63405-A150-4836-AC58-8591E5D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479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그림과 예시로 3초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89BCB8-5CE8-4FB4-BCA7-F3084B4F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1925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4288">
            <a:solidFill>
              <a:srgbClr val="2D6FA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32E27-753D-40E6-949B-4B88AFB2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BF10C-416B-4B55-B6EE-A72AB5A0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771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내용물 비우기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968F0-1F2C-48AB-BC23-A8FB7BFE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2479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오염 안내를 2초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64D82F-7CE8-48D1-A554-27F953C7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4288">
            <a:solidFill>
              <a:srgbClr val="2D6F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651F5-D888-4D5D-8328-8426B31D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C23D17-BC58-4E7E-9882-5833B078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71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투입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62E1B-56D3-4CB1-9396-B75733BD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2479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올바른 통에 3초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405BB2-8814-462C-AE64-96960441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61925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4288">
            <a:solidFill>
              <a:srgbClr val="2D6FA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375A4-90AA-4A1C-BE72-D5016075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FA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5A3163-7AC8-4F0E-BA8E-B7B29E44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피드백 확인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274B8-22FE-4894-B7CB-3F50B035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완료 표시를 2초</a:t>
            </a:r>
          </a:p>
        </p:txBody>
      </p:sp>
      <p:cxnSp>
        <p:nvCxnSpPr>
          <p:cNvPr id="63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24375" y="22383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5C1"/>
            </a:solidFill>
            <a:prstDash val="solid"/>
            <a:tailEnd type="arrow" w="sm" len="sm"/>
          </a:ln>
        </p:spPr>
      </p:cxnSp>
      <p:cxnSp>
        <p:nvCxnSpPr>
          <p:cNvPr id="64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848475" y="22383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5C1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172575" y="2238375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5C1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184236-E6CF-4F70-B330-D62DAB48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14288">
            <a:solidFill>
              <a:srgbClr val="27A6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D2439C-7B10-4055-AD45-EF01CE1A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97A808-D07F-4E1E-85EB-5DA9C138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848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대시보드 확인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61A685-48E0-4AA0-A532-035E3974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24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적재율과 오류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8F33F5-B017-4DE4-A36D-971E6137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9570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14288">
            <a:solidFill>
              <a:srgbClr val="27A67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86490-A560-4503-A600-176BD9A5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6A11D7-2B3D-4B80-9CB0-458BAC72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48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우선순위 선택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A8BCED-B578-43A7-BF97-9E6E95D0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324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상위 지점부터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3DC757-674C-4030-8244-85E4AE20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95700"/>
            <a:ext cx="2143125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14288">
            <a:solidFill>
              <a:srgbClr val="27A67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CCB981-222E-4828-A32A-10B10BA46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6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D200E7-18B5-4B27-925A-CE25492B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481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42433"/>
                </a:solidFill>
                <a:latin typeface="Malgun Gothic"/>
                <a:ea typeface="Malgun Gothic"/>
                <a:cs typeface="Malgun Gothic"/>
              </a:rPr>
              <a:t>수거 완료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252933-2D56-4425-98B0-2E973E8C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2435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통 상태만 갱신</a:t>
            </a:r>
          </a:p>
        </p:txBody>
      </p:sp>
      <p:cxnSp>
        <p:nvCxnSpPr>
          <p:cNvPr id="78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4524375" y="43148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5C1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553325" y="4314825"/>
            <a:ext cx="885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B5C1"/>
            </a:solidFill>
            <a:prstDash val="solid"/>
            <a:tailEnd type="arrow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2FCCF7-D1AF-4552-8B79-AF85629C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054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5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앱 설치와 개인 계정 없이 이용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65F660-C359-45C3-944B-7BD38DF9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시연용 가상 사례 · 수치는 데모용 가정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192F7E-E471-4E42-82DA-CD997889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28939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830B74-0B73-475B-837D-A6ED2A89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개인정보 없이 필요한 데이터만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727A6-B6F3-4104-AF3D-8A0A761E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영상·얼굴·학생 ID를 저장하지 않는 이벤트 기반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479EF-C9A7-4A21-BF89-9A5BC5FF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9050">
            <a:solidFill>
              <a:srgbClr val="2D6F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9B3C6-334D-41B3-B59E-2A158DF4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분리배출함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53DC0B-6975-4F3B-B615-973D4134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통 ID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종류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무게 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768363-C795-4B8B-8BBC-FD14FFBC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19050">
            <a:solidFill>
              <a:srgbClr val="27A67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DA9B8-F4FB-482D-A5E9-D3D73D67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현장 게이트웨이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5CC52-9689-4C1F-A995-543F20DA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72시간 임시 보관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중복 이벤트 제거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BFE61-B9AA-4978-92E9-E874600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2000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AEBDD"/>
          </a:solidFill>
          <a:ln xmlns:a="http://schemas.openxmlformats.org/drawingml/2006/main" w="19050">
            <a:solidFill>
              <a:srgbClr val="E58A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C10EA-5F06-4F2D-B709-211A7E11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336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교내 서버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77F1A-2F08-4A6D-8ACD-C6A81EA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1543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이벤트 저장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90일 후 원본 삭제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D88F6-0F1D-419A-95BC-E7004699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86000"/>
            <a:ext cx="2381250" cy="20002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9050">
            <a:solidFill>
              <a:srgbClr val="2D6F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215F0-C6F9-4D51-9390-2C2AF172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336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운영 대시보드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91EE4-06E8-4C61-B729-FD80DD64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24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적재율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장애 알림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수거 이력</a:t>
            </a:r>
          </a:p>
        </p:txBody>
      </p:sp>
      <p:cxnSp>
        <p:nvCxnSpPr>
          <p:cNvPr id="37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81300" y="32861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94A5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429250" y="32861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94A5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077200" y="32861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F94A5"/>
            </a:solidFill>
            <a:prstDash val="soli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CB36A-A5AF-4F13-B007-E46866EB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저장하지 않는 정보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524E05-953F-4576-AA33-5FC3E86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A4473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A4473D"/>
                </a:solidFill>
                <a:latin typeface="Malgun Gothic"/>
                <a:ea typeface="Malgun Gothic"/>
                <a:cs typeface="Malgun Gothic"/>
              </a:rPr>
              <a:t>얼굴 · 영상 · 이름 · 학번 · 기기 식별자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39B88-F997-4F4D-8AB4-FEAD8B7E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14900"/>
            <a:ext cx="436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장애 시에도 이벤트를 보존하고 연결 복구 후 자동 전송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48074-1C60-47A4-AA15-7847F36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시연용 가상 사례 · 수치는 데모용 가정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8A3D8-49D9-4D91-BF5E-9C8B61F4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526464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3C9D3-3DC9-4C55-B69F-693007C5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3개 지점에서 8주간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C9A5F-9189-464A-849B-1A3A5AF2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짧은 기준선 조사 후 설치하고, 4주간 운영한 뒤 확대 여부를 판단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16B08-A8BA-400B-8285-7A98E4F4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3812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9050">
            <a:solidFill>
              <a:srgbClr val="2D6FA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F75AA-D537-4DC6-9E92-55FA7B33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rPr>
              <a:t>1~2주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16B29-AB33-46A2-A722-2E0F8546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기준선 조사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DAF0A-B5EE-420A-921F-8DE7F036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혼합배출률 측정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학생 동선 관찰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0174CA-D1A9-430D-BCE3-B822B57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86000"/>
            <a:ext cx="20002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DFF3EC"/>
          </a:solidFill>
          <a:ln xmlns:a="http://schemas.openxmlformats.org/drawingml/2006/main" w="19050">
            <a:solidFill>
              <a:srgbClr val="27A6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BADB1-D5C3-4D9A-B1E8-203E8E08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57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3주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8151B-B676-4D78-A2EC-CF8143A4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05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설치와 교육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86DC3-1CF5-47D9-84E0-F5E47657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29000"/>
            <a:ext cx="1543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장비 설치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운영자 1시간 교육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346462-AF9D-40F7-8F6C-5E3D9597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86000"/>
            <a:ext cx="342900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FAEBDD"/>
          </a:solidFill>
          <a:ln xmlns:a="http://schemas.openxmlformats.org/drawingml/2006/main" w="19050">
            <a:solidFill>
              <a:srgbClr val="E58A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8ECD5-236F-42F9-ABD2-0693DAF9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57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E58A3B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E58A3B"/>
                </a:solidFill>
                <a:latin typeface="Malgun Gothic"/>
                <a:ea typeface="Malgun Gothic"/>
                <a:cs typeface="Malgun Gothic"/>
              </a:rPr>
              <a:t>4~7주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640B2-6B97-4CB5-8884-A0A52F7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05125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시범 운영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8E414-4327-46F0-8E77-258542ED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297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주간 지표 확인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표지 문구 한 차례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C5FC9-E3FE-4C28-B4A6-6B902603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2381250" cy="1905000"/>
          </a:xfrm>
          <a:prstGeom xmlns:a="http://schemas.openxmlformats.org/drawingml/2006/main" prst="roundRect">
            <a:avLst>
              <a:gd name="adj" fmla="val 11000"/>
            </a:avLst>
          </a:prstGeom>
          <a:solidFill xmlns:a="http://schemas.openxmlformats.org/drawingml/2006/main">
            <a:srgbClr val="E7F0F7"/>
          </a:solidFill>
          <a:ln xmlns:a="http://schemas.openxmlformats.org/drawingml/2006/main" w="19050">
            <a:solidFill>
              <a:srgbClr val="2D6FA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0F2E55-8EA9-42D9-90F2-0E089D7F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574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rPr>
              <a:t>8주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02552-8C01-4D81-AA09-5A141F23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평가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AC06C5-0D1C-4767-9BD7-9B4F963B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29000"/>
            <a:ext cx="1924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기준 충족 여부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확대·수정·중단 결정</a:t>
            </a:r>
          </a:p>
        </p:txBody>
      </p:sp>
      <p:cxnSp>
        <p:nvCxnSpPr>
          <p:cNvPr id="4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24200" y="3238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7A8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448300" y="3238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7A8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9201150" y="323850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297A8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59CEC-33B8-4D5F-A0E9-FDC1A3B1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책임 구분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CBAA3A-7F03-44F6-B621-1FED5D0A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14900"/>
            <a:ext cx="2333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시설팀  장비·수거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8C60EB-0849-4A04-A535-5D7138FA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9149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학생지원팀  안내·설문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502F61-CDA5-498E-BBB7-3347E2C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IT팀  네트워크·장애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F9A78-8E69-4F41-BB7A-DDDA120B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149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총괄  주간 판단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DBD276-E2E6-4562-B6C9-7D728F91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시연용 가상 사례 · 수치는 데모용 가정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12AA2E-70D9-4AC8-BE63-3824AB9A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06108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A0637-4A03-488B-8345-3039F266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시범사업 예산 1,800만원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78869-76A1-4AA0-AA2B-B3DEDA96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장비 비용과 운영 준비 비용을 포함한 총액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6858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857500"/>
                <a:gridCol w="1762125"/>
              </a:tblGrid>
              <a:tr h="51435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 anchor="ctr">
                    <a:solidFill>
                      <a:srgbClr val="0D274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산출 근거</a:t>
                      </a:r>
                    </a:p>
                  </a:txBody>
                  <a:tcPr marL="91440" marR="91440" marT="45720" marB="45720" anchor="ctr">
                    <a:solidFill>
                      <a:srgbClr val="0D2742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금액</a:t>
                      </a:r>
                    </a:p>
                  </a:txBody>
                  <a:tcPr marL="91440" marR="91440" marT="45720" marB="45720" anchor="ctr">
                    <a:solidFill>
                      <a:srgbClr val="0D2742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스마트 뚜껑 키트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3대 × 320만원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960만원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게이트웨이·네트워크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장비와 보안 설정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280만원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표지·사용자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안내물 제작과 전후 조사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180만원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설치·교육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현장 설치와 운영자 교육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140만원</a:t>
                      </a:r>
                    </a:p>
                  </a:txBody>
                  <a:tcPr marL="91440" marR="91440" marT="45720" marB="45720" anchor="ctr">
                    <a:solidFill>
                      <a:srgbClr val="F8FAFB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예비비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장비 교체와 추가 부품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240만원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91440" marR="91440" marT="45720" marB="45720" anchor="ctr">
                    <a:solidFill>
                      <a:srgbClr val="DFF3E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DFF3E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r"/>
                      <a:r>
                        <a:rPr sz="1275" b="1">
                          <a:solidFill>
                            <a:srgbClr val="14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1,800만원</a:t>
                      </a:r>
                    </a:p>
                  </a:txBody>
                  <a:tcPr marL="91440" marR="91440" marT="45720" marB="45720" anchor="ctr">
                    <a:solidFill>
                      <a:srgbClr val="DF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37F2E-9CDE-4C27-BA06-5146B2F9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526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확대 판단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B990BA-B867-4147-859F-608F069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7A67A"/>
                </a:solidFill>
                <a:latin typeface="Malgun Gothic"/>
                <a:ea typeface="Malgun Gothic"/>
                <a:cs typeface="Malgun Gothic"/>
              </a:rPr>
              <a:t>18% 이하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BCB55-FA45-4BFF-B163-B60E0C51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955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혼합배출률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79C05-C41E-41F4-9F5B-781CFFCC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rPr>
              <a:t>95% 이상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07C53-7E82-4C85-8FA9-62EA8D62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38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정상 이벤트 수집률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DAAC95-F3FD-490B-8698-ADAB6CB6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624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rPr>
              <a:t>4시간 이하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D8556-0240-439A-8F6F-04D7ED50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9814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주간 운영 투입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697F9-90BA-4644-8D7F-B587C956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D6FA3"/>
                </a:solidFill>
                <a:latin typeface="Malgun Gothic"/>
                <a:ea typeface="Malgun Gothic"/>
                <a:cs typeface="Malgun Gothic"/>
              </a:rPr>
              <a:t>75% 이상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11C2B9-27E8-49AC-9D8A-42A8931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7244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976"/>
                </a:solidFill>
                <a:latin typeface="Malgun Gothic"/>
                <a:ea typeface="Malgun Gothic"/>
                <a:cs typeface="Malgun Gothic"/>
              </a:rPr>
              <a:t>안내 명확성 만족도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DAB65-6344-4E0D-AE93-99805247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67350"/>
            <a:ext cx="333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D2742"/>
                </a:solidFill>
                <a:latin typeface="Malgun Gothic"/>
                <a:ea typeface="Malgun Gothic"/>
                <a:cs typeface="Malgun Gothic"/>
              </a:rPr>
              <a:t>모든 기준 충족 시 10개 지점으로 확대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BBD469-4E87-4046-93F1-6AEC2E0D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시연용 가상 사례 · 수치는 데모용 가정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06D930-84B8-4F74-BC3F-DFDCCE7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7A879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690890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27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85641B-A7B9-43DC-82CF-6B06FFC7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 기준은 효과와 운영 부담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C4E64-5635-4ED4-8B4C-EFF3215C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BDD0D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BDD0DF"/>
                </a:solidFill>
                <a:latin typeface="Malgun Gothic"/>
                <a:ea typeface="Malgun Gothic"/>
                <a:cs typeface="Malgun Gothic"/>
              </a:rPr>
              <a:t>8주 뒤 데이터로 확대·수정·중단을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88E20-BE68-4ABC-810C-7A96376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DDFC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DDFC4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02DF8-16AA-46CB-912A-AAB583AE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431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사용자 효과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390EF-FB13-4CE6-9C5B-1DC0BD6F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BD8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8E2"/>
                </a:solidFill>
                <a:latin typeface="Malgun Gothic"/>
                <a:ea typeface="Malgun Gothic"/>
                <a:cs typeface="Malgun Gothic"/>
              </a:rPr>
              <a:t>혼합배출률과 10초 완료율로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4FFE8-F8D1-4BE5-B22A-D45BF28F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DDFC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DDFC4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F0DCD-2F28-49F4-B032-0FE58CDF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99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가능성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7019B-04B8-4BB1-960D-BD2EC4CA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290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BD8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8E2"/>
                </a:solidFill>
                <a:latin typeface="Malgun Gothic"/>
                <a:ea typeface="Malgun Gothic"/>
                <a:cs typeface="Malgun Gothic"/>
              </a:rPr>
              <a:t>주간 투입 시간과 장애 복구 기록으로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1750D-0B7D-40A1-ADED-AADFF805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8DDFC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8DDFC4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1BF7B-8DBD-4997-AAA5-D7B71265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767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확대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4C8F6-D97A-4FE5-BC27-BE08A193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CBD8E2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CBD8E2"/>
                </a:solidFill>
                <a:latin typeface="Malgun Gothic"/>
                <a:ea typeface="Malgun Gothic"/>
                <a:cs typeface="Malgun Gothic"/>
              </a:rPr>
              <a:t>네 가지 기준을 모두 충족할 때만 10개 지점으로 확대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1C338-2ADE-4372-BEAC-23023850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00700"/>
            <a:ext cx="430530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27A6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94D806-8F1D-4511-8EA7-97E15726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43575"/>
            <a:ext cx="3962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요청  1,800만원 · 3개 지점 · 8주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AC8C84-20AF-4780-A5B7-24CD8DCE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103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49AAB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849AAB"/>
                </a:solidFill>
                <a:latin typeface="Malgun Gothic"/>
                <a:ea typeface="Malgun Gothic"/>
                <a:cs typeface="Malgun Gothic"/>
              </a:rPr>
              <a:t>시연용 가상 사례</a:t>
            </a:r>
          </a:p>
        </p:txBody>
      </p:sp>
    </p:spTree>
    <p:extLst>
      <p:ext uri="{BB962C8B-B14F-4D97-AF65-F5344CB8AC3E}">
        <p14:creationId xmlns:p14="http://schemas.microsoft.com/office/powerpoint/2010/main" val="1957566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2026-09-20T07:06:58.6400000Z</dcterms:created>
  <dcterms:modified xsi:type="dcterms:W3CDTF">2026-09-20T07:06:58.6400000Z</dcterms:modified>
</coreProperties>
</file>